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6" r:id="rId15"/>
    <p:sldId id="267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548640" y="12801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HEALTHCONNECT EXPERIENCE LAB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Week 5 Data Analytics Insights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Analysis  •  KPI Development  •  Business Insights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Junior Data Analyst Intern  |  AnalystLab Africa  |  September 2026  | LAWAL JONATHAN OLADIPUPO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0FDFA"/>
          </a:solidFill>
        </p:spPr>
      </p:sp>
      <p:sp>
        <p:nvSpPr>
          <p:cNvPr id="5" name="Text 3"/>
          <p:cNvSpPr/>
          <p:nvPr/>
        </p:nvSpPr>
        <p:spPr>
          <a:xfrm>
            <a:off x="640080" y="9601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96012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Context &amp; Week 4 Transition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</p:spPr>
      </p:sp>
      <p:sp>
        <p:nvSpPr>
          <p:cNvPr id="8" name="Text 6"/>
          <p:cNvSpPr/>
          <p:nvPr/>
        </p:nvSpPr>
        <p:spPr>
          <a:xfrm>
            <a:off x="640080" y="155448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55448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Preparation &amp; Quality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0FDFA"/>
          </a:solidFill>
        </p:spPr>
      </p:sp>
      <p:sp>
        <p:nvSpPr>
          <p:cNvPr id="11" name="Text 9"/>
          <p:cNvSpPr/>
          <p:nvPr/>
        </p:nvSpPr>
        <p:spPr>
          <a:xfrm>
            <a:off x="640080" y="214884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14884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Findings from Exploratory Analysis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</p:spPr>
      </p:sp>
      <p:sp>
        <p:nvSpPr>
          <p:cNvPr id="14" name="Text 12"/>
          <p:cNvSpPr/>
          <p:nvPr/>
        </p:nvSpPr>
        <p:spPr>
          <a:xfrm>
            <a:off x="640080" y="274320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74320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Framework &amp; Results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0FDFA"/>
          </a:solidFill>
        </p:spPr>
      </p:sp>
      <p:sp>
        <p:nvSpPr>
          <p:cNvPr id="17" name="Text 15"/>
          <p:cNvSpPr/>
          <p:nvPr/>
        </p:nvSpPr>
        <p:spPr>
          <a:xfrm>
            <a:off x="640080" y="333756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33756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Insights &amp; Implications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</p:spPr>
      </p:sp>
      <p:sp>
        <p:nvSpPr>
          <p:cNvPr id="20" name="Text 18"/>
          <p:cNvSpPr/>
          <p:nvPr/>
        </p:nvSpPr>
        <p:spPr>
          <a:xfrm>
            <a:off x="640080" y="3931920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93192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 &amp; Next Steps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CORE PROBLEM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973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48.5%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all booked appointments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 as No-Shows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</p:spPr>
      </p:sp>
      <p:sp>
        <p:nvSpPr>
          <p:cNvPr id="7" name="Text 5"/>
          <p:cNvSpPr/>
          <p:nvPr/>
        </p:nvSpPr>
        <p:spPr>
          <a:xfrm>
            <a:off x="5029200" y="10515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2,423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No-Show appointments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96596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</p:spPr>
      </p:sp>
      <p:sp>
        <p:nvSpPr>
          <p:cNvPr id="10" name="Text 8"/>
          <p:cNvSpPr/>
          <p:nvPr/>
        </p:nvSpPr>
        <p:spPr>
          <a:xfrm>
            <a:off x="5029200" y="21031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5,000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0" y="24688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appointments analysed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301752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</p:spPr>
      </p:sp>
      <p:sp>
        <p:nvSpPr>
          <p:cNvPr id="13" name="Text 11"/>
          <p:cNvSpPr/>
          <p:nvPr/>
        </p:nvSpPr>
        <p:spPr>
          <a:xfrm>
            <a:off x="5029200" y="31546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1,696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0" y="35204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 patients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PREPARATION &amp; QUALITY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dataset preserved. Cleaned version saved separately.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0FDFA"/>
          </a:solidFill>
        </p:spPr>
      </p:sp>
      <p:sp>
        <p:nvSpPr>
          <p:cNvPr id="6" name="Text 4"/>
          <p:cNvSpPr/>
          <p:nvPr/>
        </p:nvSpPr>
        <p:spPr>
          <a:xfrm>
            <a:off x="502920" y="12801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reminder_channel: 1,366 (27.3%) → filled as 'None'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distance_to_clinic_km: 90 (1.8%) → median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waiting_time_minutes: 60 (1.2%) → median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0FDFA"/>
          </a:solidFill>
        </p:spPr>
      </p:sp>
      <p:sp>
        <p:nvSpPr>
          <p:cNvPr id="11" name="Text 9"/>
          <p:cNvSpPr/>
          <p:nvPr/>
        </p:nvSpPr>
        <p:spPr>
          <a:xfrm>
            <a:off x="3383280" y="12801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Duplicates &amp; Structure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82880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0 duplicate appointment_ids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4688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0 full-row duplicates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10896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18 original columns + 4 derived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743200" cy="3200400"/>
          </a:xfrm>
          <a:prstGeom prst="roundRect">
            <a:avLst>
              <a:gd name="adj" fmla="val 3333"/>
            </a:avLst>
          </a:prstGeom>
          <a:solidFill>
            <a:srgbClr val="F0FDFA"/>
          </a:solidFill>
        </p:spPr>
      </p:sp>
      <p:sp>
        <p:nvSpPr>
          <p:cNvPr id="16" name="Text 14"/>
          <p:cNvSpPr/>
          <p:nvPr/>
        </p:nvSpPr>
        <p:spPr>
          <a:xfrm>
            <a:off x="6263640" y="12801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Derived Fields Added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82880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is_noshow (0/1 target flag)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246888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lead_bin (booking window groups)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10896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distance_bin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37490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is_attended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STRONGEST PATTERN: BOOKING LEAD TIME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No-Show Rate rises sharply as patients book further in advance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0–7 days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170432"/>
            <a:ext cx="1587398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</p:spPr>
      </p:sp>
      <p:sp>
        <p:nvSpPr>
          <p:cNvPr id="7" name="Text 5"/>
          <p:cNvSpPr/>
          <p:nvPr/>
        </p:nvSpPr>
        <p:spPr>
          <a:xfrm>
            <a:off x="4010558" y="10972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27.8%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8–14 days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1856232"/>
            <a:ext cx="1927555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</p:spPr>
      </p:sp>
      <p:sp>
        <p:nvSpPr>
          <p:cNvPr id="10" name="Text 8"/>
          <p:cNvSpPr/>
          <p:nvPr/>
        </p:nvSpPr>
        <p:spPr>
          <a:xfrm>
            <a:off x="4350715" y="17830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33.6%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15–30 days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0" y="2542032"/>
            <a:ext cx="243779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</p:spPr>
      </p:sp>
      <p:sp>
        <p:nvSpPr>
          <p:cNvPr id="13" name="Text 11"/>
          <p:cNvSpPr/>
          <p:nvPr/>
        </p:nvSpPr>
        <p:spPr>
          <a:xfrm>
            <a:off x="4860950" y="24688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43.2%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31–45 days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3227832"/>
            <a:ext cx="3061411" cy="347472"/>
          </a:xfrm>
          <a:prstGeom prst="roundRect">
            <a:avLst>
              <a:gd name="adj" fmla="val 13158"/>
            </a:avLst>
          </a:prstGeom>
          <a:solidFill>
            <a:srgbClr val="F97316"/>
          </a:solidFill>
        </p:spPr>
      </p:sp>
      <p:sp>
        <p:nvSpPr>
          <p:cNvPr id="16" name="Text 14"/>
          <p:cNvSpPr/>
          <p:nvPr/>
        </p:nvSpPr>
        <p:spPr>
          <a:xfrm>
            <a:off x="5484571" y="31546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53.8%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46–60 days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0" y="3913632"/>
            <a:ext cx="3855110" cy="347472"/>
          </a:xfrm>
          <a:prstGeom prst="roundRect">
            <a:avLst>
              <a:gd name="adj" fmla="val 13158"/>
            </a:avLst>
          </a:prstGeom>
          <a:solidFill>
            <a:srgbClr val="F97316"/>
          </a:solidFill>
        </p:spPr>
      </p:sp>
      <p:sp>
        <p:nvSpPr>
          <p:cNvPr id="19" name="Text 17"/>
          <p:cNvSpPr/>
          <p:nvPr/>
        </p:nvSpPr>
        <p:spPr>
          <a:xfrm>
            <a:off x="6278270" y="38404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67.7%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PREVIOUS NO-SHOW HISTORY = CLEAR RISK SIGNAL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0FDFA"/>
          </a:solidFill>
        </p:spPr>
      </p:sp>
      <p:sp>
        <p:nvSpPr>
          <p:cNvPr id="5" name="Text 3"/>
          <p:cNvSpPr/>
          <p:nvPr/>
        </p:nvSpPr>
        <p:spPr>
          <a:xfrm>
            <a:off x="594360" y="12801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 prior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43.5%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0FDFA"/>
          </a:solidFill>
        </p:spPr>
      </p:sp>
      <p:sp>
        <p:nvSpPr>
          <p:cNvPr id="9" name="Text 7"/>
          <p:cNvSpPr/>
          <p:nvPr/>
        </p:nvSpPr>
        <p:spPr>
          <a:xfrm>
            <a:off x="3474720" y="12801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 prior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9202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53.5%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74720" y="27432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+10 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EF3C7"/>
          </a:solidFill>
        </p:spPr>
      </p:sp>
      <p:sp>
        <p:nvSpPr>
          <p:cNvPr id="13" name="Text 11"/>
          <p:cNvSpPr/>
          <p:nvPr/>
        </p:nvSpPr>
        <p:spPr>
          <a:xfrm>
            <a:off x="6355080" y="12801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2+ prior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192024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61.0%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355080" y="27432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High-risk segment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 with a history of no-shows are significantly more likely to miss future appointments.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KPI SCORECARD – FIVE SELECTED METRICS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0FDFA"/>
          </a:solidFill>
        </p:spPr>
      </p:sp>
      <p:sp>
        <p:nvSpPr>
          <p:cNvPr id="5" name="Text 3"/>
          <p:cNvSpPr/>
          <p:nvPr/>
        </p:nvSpPr>
        <p:spPr>
          <a:xfrm>
            <a:off x="548640" y="94183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Overall No-Show Rate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91440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48.5%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0" y="9601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problem indicator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</p:spPr>
      </p:sp>
      <p:sp>
        <p:nvSpPr>
          <p:cNvPr id="9" name="Text 7"/>
          <p:cNvSpPr/>
          <p:nvPr/>
        </p:nvSpPr>
        <p:spPr>
          <a:xfrm>
            <a:off x="548640" y="171907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Attendance Rate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46.3%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17373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Capacity successfully used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0FDFA"/>
          </a:solidFill>
        </p:spPr>
      </p:sp>
      <p:sp>
        <p:nvSpPr>
          <p:cNvPr id="13" name="Text 11"/>
          <p:cNvSpPr/>
          <p:nvPr/>
        </p:nvSpPr>
        <p:spPr>
          <a:xfrm>
            <a:off x="548640" y="249631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Long-Lead No-Show Rate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46888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67.7%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25146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of early booking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</p:spPr>
      </p:sp>
      <p:sp>
        <p:nvSpPr>
          <p:cNvPr id="17" name="Text 15"/>
          <p:cNvSpPr/>
          <p:nvPr/>
        </p:nvSpPr>
        <p:spPr>
          <a:xfrm>
            <a:off x="548640" y="327355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Reminder Effectiveness Gap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24612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~4.0 pp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83680" y="32918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Lift from current reminders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0FDFA"/>
          </a:solidFill>
        </p:spPr>
      </p:sp>
      <p:sp>
        <p:nvSpPr>
          <p:cNvPr id="21" name="Text 19"/>
          <p:cNvSpPr/>
          <p:nvPr/>
        </p:nvSpPr>
        <p:spPr>
          <a:xfrm>
            <a:off x="548640" y="405079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High-Risk Patient Rate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4023360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61.0%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83680" y="40690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≥2 prior no-shows segment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ADDITIONAL PATTERNS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0FDFA"/>
          </a:solidFill>
        </p:spPr>
      </p:sp>
      <p:sp>
        <p:nvSpPr>
          <p:cNvPr id="5" name="Text 3"/>
          <p:cNvSpPr/>
          <p:nvPr/>
        </p:nvSpPr>
        <p:spPr>
          <a:xfrm>
            <a:off x="594360" y="10515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Appointment Type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Follow-ups show the highest no-show rate at 51.2%. General Consultations perform better at 46.6%.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8229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0FDFA"/>
          </a:solidFill>
        </p:spPr>
      </p:sp>
      <p:sp>
        <p:nvSpPr>
          <p:cNvPr id="8" name="Text 6"/>
          <p:cNvSpPr/>
          <p:nvPr/>
        </p:nvSpPr>
        <p:spPr>
          <a:xfrm>
            <a:off x="4983480" y="10515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Reminders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50876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reminder → 51.4% no-show. With reminder → 47.4%. SMS currently the strongest channel.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0FDFA"/>
          </a:solidFill>
        </p:spPr>
      </p:sp>
      <p:sp>
        <p:nvSpPr>
          <p:cNvPr id="11" name="Text 9"/>
          <p:cNvSpPr/>
          <p:nvPr/>
        </p:nvSpPr>
        <p:spPr>
          <a:xfrm>
            <a:off x="594360" y="28803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Day of Week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333756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Sundays show a slightly elevated no-show rate. Fridays and Saturdays perform relatively better.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6517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0FDFA"/>
          </a:solidFill>
        </p:spPr>
      </p:sp>
      <p:sp>
        <p:nvSpPr>
          <p:cNvPr id="14" name="Text 12"/>
          <p:cNvSpPr/>
          <p:nvPr/>
        </p:nvSpPr>
        <p:spPr>
          <a:xfrm>
            <a:off x="4983480" y="28803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Distance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333756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Mild positive relationship: patients living further from the clinic are somewhat more likely to miss appointments.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BUSINESS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5" name="Text 3"/>
          <p:cNvSpPr/>
          <p:nvPr/>
        </p:nvSpPr>
        <p:spPr>
          <a:xfrm>
            <a:off x="457200" y="91440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86868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Almost 1 in 2 appointments is lost – this is the central operational problem.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8" name="Text 6"/>
          <p:cNvSpPr/>
          <p:nvPr/>
        </p:nvSpPr>
        <p:spPr>
          <a:xfrm>
            <a:off x="457200" y="16459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0020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 lead time is the strongest single driver of no-shows in the data.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1" name="Text 9"/>
          <p:cNvSpPr/>
          <p:nvPr/>
        </p:nvSpPr>
        <p:spPr>
          <a:xfrm>
            <a:off x="457200" y="23774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33172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 with previous no-shows form a clear high-risk segment (61% rate).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4" name="Text 12"/>
          <p:cNvSpPr/>
          <p:nvPr/>
        </p:nvSpPr>
        <p:spPr>
          <a:xfrm>
            <a:off x="457200" y="31089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06324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Current reminders help, but the gap is still modest – coverage and channel choice can be improved.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365760" cy="36576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7" name="Text 15"/>
          <p:cNvSpPr/>
          <p:nvPr/>
        </p:nvSpPr>
        <p:spPr>
          <a:xfrm>
            <a:off x="457200" y="38404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94760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Follow-up appointments and Sunday slots show elevated risk and need tailored processes.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0FDFA"/>
          </a:solidFill>
        </p:spPr>
      </p:sp>
      <p:sp>
        <p:nvSpPr>
          <p:cNvPr id="5" name="Shape 3"/>
          <p:cNvSpPr/>
          <p:nvPr/>
        </p:nvSpPr>
        <p:spPr>
          <a:xfrm>
            <a:off x="502920" y="868680"/>
            <a:ext cx="411480" cy="41148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502920" y="91440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822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 booking windows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0972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Consider shorter maximum lead times for non-urgent and follow-up appointments.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0FDFA"/>
          </a:solidFill>
        </p:spPr>
      </p:sp>
      <p:sp>
        <p:nvSpPr>
          <p:cNvPr id="10" name="Shape 8"/>
          <p:cNvSpPr/>
          <p:nvPr/>
        </p:nvSpPr>
        <p:spPr>
          <a:xfrm>
            <a:off x="502920" y="1645920"/>
            <a:ext cx="411480" cy="41148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1" name="Text 9"/>
          <p:cNvSpPr/>
          <p:nvPr/>
        </p:nvSpPr>
        <p:spPr>
          <a:xfrm>
            <a:off x="502920" y="169164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600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Flag high-risk patients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874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simple flag for patients with ≥2 previous no-shows for prioritised outreach.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0FDFA"/>
          </a:solidFill>
        </p:spPr>
      </p:sp>
      <p:sp>
        <p:nvSpPr>
          <p:cNvPr id="15" name="Shape 13"/>
          <p:cNvSpPr/>
          <p:nvPr/>
        </p:nvSpPr>
        <p:spPr>
          <a:xfrm>
            <a:off x="502920" y="2423160"/>
            <a:ext cx="411480" cy="41148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6" name="Text 14"/>
          <p:cNvSpPr/>
          <p:nvPr/>
        </p:nvSpPr>
        <p:spPr>
          <a:xfrm>
            <a:off x="502920" y="246888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3774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Optimise reminders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651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SMS as primary channel; test WhatsApp for younger age groups; increase coverage.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0FDFA"/>
          </a:solidFill>
        </p:spPr>
      </p:sp>
      <p:sp>
        <p:nvSpPr>
          <p:cNvPr id="20" name="Shape 18"/>
          <p:cNvSpPr/>
          <p:nvPr/>
        </p:nvSpPr>
        <p:spPr>
          <a:xfrm>
            <a:off x="502920" y="3200400"/>
            <a:ext cx="411480" cy="41148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1" name="Text 19"/>
          <p:cNvSpPr/>
          <p:nvPr/>
        </p:nvSpPr>
        <p:spPr>
          <a:xfrm>
            <a:off x="502920" y="324612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1546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Align on KPIs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429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the five KPIs with Project Management and Data Science so all tracks use the same metrics.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412480" cy="685800"/>
          </a:xfrm>
          <a:prstGeom prst="roundRect">
            <a:avLst>
              <a:gd name="adj" fmla="val 8000"/>
            </a:avLst>
          </a:prstGeom>
          <a:solidFill>
            <a:srgbClr val="F0FDFA"/>
          </a:solidFill>
        </p:spPr>
      </p:sp>
      <p:sp>
        <p:nvSpPr>
          <p:cNvPr id="25" name="Shape 23"/>
          <p:cNvSpPr/>
          <p:nvPr/>
        </p:nvSpPr>
        <p:spPr>
          <a:xfrm>
            <a:off x="502920" y="3977640"/>
            <a:ext cx="411480" cy="41148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6" name="Text 24"/>
          <p:cNvSpPr/>
          <p:nvPr/>
        </p:nvSpPr>
        <p:spPr>
          <a:xfrm>
            <a:off x="502920" y="402336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3931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Monitor Sundays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206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earlier or additional reminders for weekend appointments.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WEEK 6 FOCUS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on this foundation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9728" cy="6858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777240" y="10972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Refine 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time-trend views and more interactive filters in Power BI / Excel.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109728" cy="6858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9" name="Text 7"/>
          <p:cNvSpPr/>
          <p:nvPr/>
        </p:nvSpPr>
        <p:spPr>
          <a:xfrm>
            <a:off x="777240" y="19659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 Data Science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 prioritised feature list (lead time, previous no-shows, reminder status) for modelling.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09728" cy="6858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2" name="Text 10"/>
          <p:cNvSpPr/>
          <p:nvPr/>
        </p:nvSpPr>
        <p:spPr>
          <a:xfrm>
            <a:off x="777240" y="283464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Deepen Channel Analysis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 reminder channel performance in more detail once missing values are better understood.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109728" cy="6858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5" name="Text 13"/>
          <p:cNvSpPr/>
          <p:nvPr/>
        </p:nvSpPr>
        <p:spPr>
          <a:xfrm>
            <a:off x="777240" y="37033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Operational Pilot Ideas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40233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 with Project Management on a small pilot for high-risk patient flagging.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548640" y="1645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Junior Data Analyst Intern  |  HealthConnect Experience Lab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AnalystLab Africa  |  September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3680</Words>
  <Application>WPS Presentation</Application>
  <PresentationFormat>On-screen Show (16:9)</PresentationFormat>
  <Paragraphs>260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Arial</vt:lpstr>
      <vt:lpstr>Arial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HealthConnect Week 5 – Data Analytics Insights</dc:title>
  <dc:creator>Junior Data Analyst Intern – AnalystLab Africa</dc:creator>
  <dc:subject>Exploratory Analysis, KPIs &amp; Business Insights</dc:subject>
  <cp:lastModifiedBy>USER</cp:lastModifiedBy>
  <cp:revision>2</cp:revision>
  <dcterms:created xsi:type="dcterms:W3CDTF">2026-09-05T12:53:00Z</dcterms:created>
  <dcterms:modified xsi:type="dcterms:W3CDTF">2026-09-05T20:53:07Z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60381E04D33E473BBFB073E923D95CBD_12</vt:lpwstr>
  </property>
  <property fmtid="{D5CDD505-2E9C-101B-9397-08002B2CF9AE}" pid="3" name="KSOProductBuildVer">
    <vt:lpwstr>1033-12.2.0.23196</vt:lpwstr>
  </property>
</Properties>
</file>